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12"/>
  </p:notesMasterIdLst>
  <p:sldIdLst>
    <p:sldId id="284" r:id="rId2"/>
    <p:sldId id="285" r:id="rId3"/>
    <p:sldId id="287" r:id="rId4"/>
    <p:sldId id="290" r:id="rId5"/>
    <p:sldId id="288" r:id="rId6"/>
    <p:sldId id="289" r:id="rId7"/>
    <p:sldId id="291" r:id="rId8"/>
    <p:sldId id="292" r:id="rId9"/>
    <p:sldId id="293" r:id="rId10"/>
    <p:sldId id="294" r:id="rId11"/>
  </p:sldIdLst>
  <p:sldSz cx="12192000" cy="6858000"/>
  <p:notesSz cx="6858000" cy="9144000"/>
  <p:defaultTextStyle>
    <a:defPPr>
      <a:defRPr lang="it-IT"/>
    </a:defPPr>
    <a:lvl1pPr marL="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1795DFD3-DBF5-4584-A405-3C5C21B0F90A}">
          <p14:sldIdLst>
            <p14:sldId id="284"/>
            <p14:sldId id="285"/>
            <p14:sldId id="287"/>
            <p14:sldId id="290"/>
            <p14:sldId id="288"/>
            <p14:sldId id="289"/>
            <p14:sldId id="291"/>
            <p14:sldId id="292"/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5B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86337"/>
  </p:normalViewPr>
  <p:slideViewPr>
    <p:cSldViewPr snapToGrid="0" snapToObjects="1">
      <p:cViewPr varScale="1">
        <p:scale>
          <a:sx n="103" d="100"/>
          <a:sy n="103" d="100"/>
        </p:scale>
        <p:origin x="82" y="10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8D0AF3-B675-5949-9CB6-94D1A0CBE554}" type="datetimeFigureOut">
              <a:rPr lang="it-IT" smtClean="0"/>
              <a:t>21/06/2026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A6611-E494-DD49-8D29-D2A3A693D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6248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1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/>
          <p:cNvSpPr>
            <a:spLocks noGrp="1"/>
          </p:cNvSpPr>
          <p:nvPr>
            <p:ph type="title"/>
          </p:nvPr>
        </p:nvSpPr>
        <p:spPr>
          <a:xfrm>
            <a:off x="0" y="3852968"/>
            <a:ext cx="12192000" cy="680224"/>
          </a:xfrm>
        </p:spPr>
        <p:txBody>
          <a:bodyPr/>
          <a:lstStyle>
            <a:lvl1pPr algn="ctr">
              <a:defRPr b="0" i="0">
                <a:solidFill>
                  <a:srgbClr val="1C5B9A"/>
                </a:solidFill>
                <a:latin typeface="Avenir Medium" charset="0"/>
                <a:ea typeface="Avenir Medium" charset="0"/>
                <a:cs typeface="Avenir Medium" charset="0"/>
              </a:defRPr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12" name="Segnaposto testo 11"/>
          <p:cNvSpPr>
            <a:spLocks noGrp="1"/>
          </p:cNvSpPr>
          <p:nvPr>
            <p:ph type="body" sz="quarter" idx="10"/>
          </p:nvPr>
        </p:nvSpPr>
        <p:spPr>
          <a:xfrm>
            <a:off x="0" y="5372100"/>
            <a:ext cx="12192000" cy="10858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venir Book" charset="0"/>
                <a:ea typeface="Avenir Book" charset="0"/>
                <a:cs typeface="Avenir Book" charset="0"/>
              </a:defRPr>
            </a:lvl1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328" y="2"/>
            <a:ext cx="1609344" cy="25206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uccess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210" y="0"/>
            <a:ext cx="2527300" cy="6858000"/>
          </a:xfrm>
          <a:prstGeom prst="rect">
            <a:avLst/>
          </a:prstGeom>
        </p:spPr>
      </p:pic>
      <p:sp>
        <p:nvSpPr>
          <p:cNvPr id="16" name="Titolo 15"/>
          <p:cNvSpPr>
            <a:spLocks noGrp="1"/>
          </p:cNvSpPr>
          <p:nvPr>
            <p:ph type="title" hasCustomPrompt="1"/>
          </p:nvPr>
        </p:nvSpPr>
        <p:spPr>
          <a:xfrm>
            <a:off x="838201" y="422066"/>
            <a:ext cx="10515600" cy="1095508"/>
          </a:xfrm>
        </p:spPr>
        <p:txBody>
          <a:bodyPr>
            <a:normAutofit/>
          </a:bodyPr>
          <a:lstStyle>
            <a:lvl1pPr>
              <a:defRPr sz="4000" b="0" i="0">
                <a:solidFill>
                  <a:srgbClr val="1C5B9A"/>
                </a:solidFill>
                <a:latin typeface="Avenir Medium" charset="0"/>
                <a:ea typeface="Avenir Medium" charset="0"/>
                <a:cs typeface="Avenir Medium" charset="0"/>
              </a:defRPr>
            </a:lvl1pPr>
          </a:lstStyle>
          <a:p>
            <a:r>
              <a:rPr lang="it-IT" dirty="0"/>
              <a:t>Fare clic per modificare il titolo principale</a:t>
            </a:r>
          </a:p>
        </p:txBody>
      </p:sp>
      <p:sp>
        <p:nvSpPr>
          <p:cNvPr id="18" name="Segnaposto piè di pagina 17"/>
          <p:cNvSpPr>
            <a:spLocks noGrp="1"/>
          </p:cNvSpPr>
          <p:nvPr>
            <p:ph type="ftr" sz="quarter" idx="10"/>
          </p:nvPr>
        </p:nvSpPr>
        <p:spPr>
          <a:xfrm>
            <a:off x="1954533" y="6356363"/>
            <a:ext cx="7600951" cy="365125"/>
          </a:xfrm>
        </p:spPr>
        <p:txBody>
          <a:bodyPr/>
          <a:lstStyle/>
          <a:p>
            <a:endParaRPr lang="it-IT"/>
          </a:p>
        </p:txBody>
      </p:sp>
      <p:sp>
        <p:nvSpPr>
          <p:cNvPr id="19" name="Segnaposto numero diapositiva 18"/>
          <p:cNvSpPr>
            <a:spLocks noGrp="1"/>
          </p:cNvSpPr>
          <p:nvPr>
            <p:ph type="sldNum" sz="quarter" idx="11"/>
          </p:nvPr>
        </p:nvSpPr>
        <p:spPr>
          <a:xfrm>
            <a:off x="9944103" y="6356363"/>
            <a:ext cx="1409700" cy="365125"/>
          </a:xfrm>
        </p:spPr>
        <p:txBody>
          <a:bodyPr/>
          <a:lstStyle/>
          <a:p>
            <a:fld id="{81D2C86E-A83C-2549-A029-4F8553532BC8}" type="slidenum">
              <a:rPr lang="it-IT" smtClean="0"/>
              <a:t>‹N›</a:t>
            </a:fld>
            <a:endParaRPr lang="it-IT"/>
          </a:p>
        </p:txBody>
      </p:sp>
      <p:sp>
        <p:nvSpPr>
          <p:cNvPr id="21" name="Segnaposto testo 20"/>
          <p:cNvSpPr>
            <a:spLocks noGrp="1"/>
          </p:cNvSpPr>
          <p:nvPr>
            <p:ph type="body" sz="quarter" idx="12"/>
          </p:nvPr>
        </p:nvSpPr>
        <p:spPr>
          <a:xfrm>
            <a:off x="838200" y="1926918"/>
            <a:ext cx="10515601" cy="3662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Book" charset="0"/>
                <a:ea typeface="Avenir Book" charset="0"/>
                <a:cs typeface="Avenir Book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Book" charset="0"/>
                <a:ea typeface="Avenir Book" charset="0"/>
                <a:cs typeface="Avenir Book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Book" charset="0"/>
                <a:ea typeface="Avenir Book" charset="0"/>
                <a:cs typeface="Avenir Book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Book" charset="0"/>
                <a:ea typeface="Avenir Book" charset="0"/>
                <a:cs typeface="Avenir Book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Book" charset="0"/>
                <a:ea typeface="Avenir Book" charset="0"/>
                <a:cs typeface="Avenir Book" charset="0"/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IT" dirty="0"/>
          </a:p>
        </p:txBody>
      </p:sp>
      <p:pic>
        <p:nvPicPr>
          <p:cNvPr id="2" name="Immagin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72" y="5778000"/>
            <a:ext cx="690370" cy="10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6" descr="Logo.gif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lum bright="100000"/>
          </a:blip>
          <a:stretch>
            <a:fillRect/>
          </a:stretch>
        </p:blipFill>
        <p:spPr>
          <a:xfrm>
            <a:off x="18381" y="91440"/>
            <a:ext cx="716400" cy="5357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269632"/>
            <a:ext cx="10769600" cy="1143000"/>
          </a:xfrm>
        </p:spPr>
        <p:txBody>
          <a:bodyPr/>
          <a:lstStyle>
            <a:lvl1pPr algn="l" eaLnBrk="1" latinLnBrk="0" hangingPunct="1">
              <a:defRPr kumimoji="0" lang="it-IT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7435" y="1772817"/>
            <a:ext cx="10769600" cy="4297363"/>
          </a:xfrm>
          <a:prstGeom prst="rect">
            <a:avLst/>
          </a:prstGeom>
        </p:spPr>
        <p:txBody>
          <a:bodyPr>
            <a:normAutofit/>
          </a:bodyPr>
          <a:lstStyle>
            <a:lvl1pPr eaLnBrk="1" latinLnBrk="0" hangingPunct="1">
              <a:defRPr kumimoji="0" lang="it-IT" sz="3200">
                <a:latin typeface="+mn-lt"/>
              </a:defRPr>
            </a:lvl1pPr>
            <a:lvl2pPr eaLnBrk="1" latinLnBrk="0" hangingPunct="1">
              <a:defRPr kumimoji="0" lang="it-IT" sz="2800">
                <a:latin typeface="+mn-lt"/>
              </a:defRPr>
            </a:lvl2pPr>
            <a:lvl3pPr eaLnBrk="1" latinLnBrk="0" hangingPunct="1">
              <a:defRPr kumimoji="0" lang="it-IT" sz="2400">
                <a:latin typeface="+mn-lt"/>
              </a:defRPr>
            </a:lvl3pPr>
            <a:lvl4pPr eaLnBrk="1" latinLnBrk="0" hangingPunct="1">
              <a:defRPr kumimoji="0" lang="it-IT" sz="2400">
                <a:latin typeface="+mn-lt"/>
              </a:defRPr>
            </a:lvl4pPr>
            <a:lvl5pPr eaLnBrk="1" latinLnBrk="0" hangingPunct="1">
              <a:defRPr kumimoji="0" lang="it-IT" sz="2400">
                <a:latin typeface="+mn-lt"/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10160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323170E-A80C-434E-8FBB-E9289C21C89B}" type="datetime1">
              <a:rPr lang="it-IT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21/06/2026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44B8F18-439D-4454-9CD1-41BEE77BE803}" type="slidenum">
              <a:rPr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‹N›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633533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1" y="3496736"/>
            <a:ext cx="10515600" cy="109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1" y="63563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2C86E-A83C-2549-A029-4F8553532BC8}" type="slidenum">
              <a:rPr lang="it-IT" smtClean="0"/>
              <a:t>‹N›</a:t>
            </a:fld>
            <a:endParaRPr lang="it-IT"/>
          </a:p>
        </p:txBody>
      </p:sp>
      <p:sp>
        <p:nvSpPr>
          <p:cNvPr id="9" name="Segnaposto piè di pagina 8"/>
          <p:cNvSpPr>
            <a:spLocks noGrp="1"/>
          </p:cNvSpPr>
          <p:nvPr>
            <p:ph type="ftr" sz="quarter" idx="3"/>
          </p:nvPr>
        </p:nvSpPr>
        <p:spPr>
          <a:xfrm>
            <a:off x="4038601" y="63563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312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139C7A-9BF1-3347-5C3B-ECE48839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8776"/>
            <a:ext cx="12192000" cy="680224"/>
          </a:xfrm>
        </p:spPr>
        <p:txBody>
          <a:bodyPr>
            <a:normAutofit fontScale="90000"/>
          </a:bodyPr>
          <a:lstStyle/>
          <a:p>
            <a:r>
              <a:rPr lang="it-IT" dirty="0"/>
              <a:t>Relazione Fonderia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7A31AAA-09D5-8D3C-A874-46C0F07471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870187"/>
            <a:ext cx="12192000" cy="582651"/>
          </a:xfrm>
        </p:spPr>
        <p:txBody>
          <a:bodyPr/>
          <a:lstStyle/>
          <a:p>
            <a:r>
              <a:rPr lang="it-IT" sz="2000" dirty="0">
                <a:solidFill>
                  <a:schemeClr val="tx1"/>
                </a:solidFill>
              </a:rPr>
              <a:t>Comotti Davide 740755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50A0825-F4FB-4FF1-1C25-A78F89EDFBCA}"/>
              </a:ext>
            </a:extLst>
          </p:cNvPr>
          <p:cNvSpPr txBox="1"/>
          <p:nvPr/>
        </p:nvSpPr>
        <p:spPr>
          <a:xfrm>
            <a:off x="52039" y="3720326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spc="300" dirty="0"/>
              <a:t>Come la variazione dei parametri di una</a:t>
            </a:r>
          </a:p>
          <a:p>
            <a:pPr algn="ctr"/>
            <a:r>
              <a:rPr lang="it-IT" sz="2800" spc="300" dirty="0"/>
              <a:t>simulazione di pressocolata influenzi la</a:t>
            </a:r>
          </a:p>
          <a:p>
            <a:pPr algn="ctr"/>
            <a:r>
              <a:rPr lang="it-IT" sz="2800" spc="300" dirty="0"/>
              <a:t>qualità del getto e il tempo di</a:t>
            </a:r>
          </a:p>
          <a:p>
            <a:pPr algn="ctr"/>
            <a:r>
              <a:rPr lang="it-IT" sz="2800" spc="300" dirty="0"/>
              <a:t>riempimento</a:t>
            </a:r>
          </a:p>
        </p:txBody>
      </p:sp>
    </p:spTree>
    <p:extLst>
      <p:ext uri="{BB962C8B-B14F-4D97-AF65-F5344CB8AC3E}">
        <p14:creationId xmlns:p14="http://schemas.microsoft.com/office/powerpoint/2010/main" val="4265498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1046E6-A30F-5236-1B70-9CEEBD25E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22066"/>
            <a:ext cx="10515600" cy="663319"/>
          </a:xfrm>
        </p:spPr>
        <p:txBody>
          <a:bodyPr>
            <a:normAutofit/>
          </a:bodyPr>
          <a:lstStyle/>
          <a:p>
            <a:r>
              <a:rPr lang="it-IT" sz="3200" dirty="0"/>
              <a:t>Introduzione</a:t>
            </a:r>
            <a:endParaRPr lang="it-IT" sz="280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24548F4-4DD9-1C40-80D3-CC6948FA32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1" y="1926918"/>
            <a:ext cx="5978912" cy="366267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400" dirty="0"/>
              <a:t>Simulazione di pressocolata con l’impiego di </a:t>
            </a:r>
            <a:r>
              <a:rPr lang="it-IT" sz="2400" i="1" dirty="0"/>
              <a:t>Virtual Mold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400" dirty="0"/>
              <a:t>Lo scopo è trovare dei parametri che ottimizzino il tempo di riempimento e qualità del getto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it-IT" sz="2400" i="1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5417AFF-BDE0-6BFA-D6F3-FBEED3A16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621" y="1597664"/>
            <a:ext cx="4430886" cy="366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10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FBF6B3-4149-65E6-26F4-D27192D00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22066"/>
            <a:ext cx="10515600" cy="767397"/>
          </a:xfrm>
        </p:spPr>
        <p:txBody>
          <a:bodyPr>
            <a:normAutofit/>
          </a:bodyPr>
          <a:lstStyle/>
          <a:p>
            <a:r>
              <a:rPr lang="it-IT" sz="2800" dirty="0"/>
              <a:t>Dati di partenza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C7FC008-E88E-3275-48E6-F2B634A950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1" y="1436263"/>
            <a:ext cx="10515601" cy="420625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Lega impiegata: EN AC-46100 AlSi11Cu2(Fe) a temperatura di colata di 680°C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Definizione di valori iniziali di HTC getto-stampo e velocità del pistone</a:t>
            </a:r>
          </a:p>
          <a:p>
            <a:endParaRPr lang="it-IT" sz="2400" dirty="0"/>
          </a:p>
          <a:p>
            <a:endParaRPr lang="it-IT" sz="2400" dirty="0"/>
          </a:p>
          <a:p>
            <a:endParaRPr lang="it-IT" sz="2400" dirty="0"/>
          </a:p>
          <a:p>
            <a:endParaRPr lang="it-IT" sz="2400" dirty="0"/>
          </a:p>
          <a:p>
            <a:endParaRPr lang="it-IT" sz="2400" dirty="0"/>
          </a:p>
          <a:p>
            <a:endParaRPr lang="it-IT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Si andranno a modificare la T di colata, i valori di HTC e velocità del pistone</a:t>
            </a:r>
          </a:p>
          <a:p>
            <a:endParaRPr lang="it-IT" sz="2400" dirty="0"/>
          </a:p>
          <a:p>
            <a:endParaRPr lang="it-IT" sz="2400" dirty="0"/>
          </a:p>
          <a:p>
            <a:endParaRPr lang="it-IT" sz="2400" dirty="0"/>
          </a:p>
          <a:p>
            <a:endParaRPr lang="it-IT" sz="2400" dirty="0"/>
          </a:p>
          <a:p>
            <a:endParaRPr lang="it-IT" sz="24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1882225-B49C-A7C9-97A1-4EEBFAE8D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62" y="2896222"/>
            <a:ext cx="5866838" cy="220271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9A40175-64CF-61DA-D832-E1915F599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162" y="2896222"/>
            <a:ext cx="5866838" cy="2229962"/>
          </a:xfrm>
          <a:prstGeom prst="rect">
            <a:avLst/>
          </a:prstGeom>
        </p:spPr>
      </p:pic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4618EEAB-96CB-122E-D41F-89E3EE24774C}"/>
              </a:ext>
            </a:extLst>
          </p:cNvPr>
          <p:cNvCxnSpPr>
            <a:cxnSpLocks/>
          </p:cNvCxnSpPr>
          <p:nvPr/>
        </p:nvCxnSpPr>
        <p:spPr>
          <a:xfrm>
            <a:off x="7991707" y="2192221"/>
            <a:ext cx="319669" cy="803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C4D1639A-9792-9520-8650-4434638B4941}"/>
              </a:ext>
            </a:extLst>
          </p:cNvPr>
          <p:cNvCxnSpPr>
            <a:cxnSpLocks/>
          </p:cNvCxnSpPr>
          <p:nvPr/>
        </p:nvCxnSpPr>
        <p:spPr>
          <a:xfrm flipH="1">
            <a:off x="4949281" y="2274849"/>
            <a:ext cx="1146719" cy="621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947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C547FA-7061-5B40-80AD-A0489F2E7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22066"/>
            <a:ext cx="10515600" cy="559241"/>
          </a:xfrm>
        </p:spPr>
        <p:txBody>
          <a:bodyPr>
            <a:normAutofit/>
          </a:bodyPr>
          <a:lstStyle/>
          <a:p>
            <a:r>
              <a:rPr lang="it-IT" sz="2800" dirty="0"/>
              <a:t>Procedura sperimentale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311D99A-E10A-6558-C183-9A1C71FF59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1" y="1101728"/>
            <a:ext cx="10515601" cy="1849628"/>
          </a:xfrm>
        </p:spPr>
        <p:txBody>
          <a:bodyPr/>
          <a:lstStyle/>
          <a:p>
            <a:r>
              <a:rPr lang="it-IT" sz="2400" dirty="0"/>
              <a:t>Si sono effettuate 09 simulazioni e i parametri che siamo andati a controllare sono: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Tempo di riempimento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Tempo di solidificazione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Porosità da ritiro in determinate sezioni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5BD54BA-1D73-976C-028E-3ECDB5F0C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53" y="3464739"/>
            <a:ext cx="5838170" cy="155684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CBD9087-4561-2013-C71D-0A5BAE7E0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580" y="3464738"/>
            <a:ext cx="5836362" cy="155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530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1AC18A-2EFF-A3AA-27FB-FB03B1B39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22066"/>
            <a:ext cx="10515600" cy="655885"/>
          </a:xfrm>
        </p:spPr>
        <p:txBody>
          <a:bodyPr>
            <a:normAutofit/>
          </a:bodyPr>
          <a:lstStyle/>
          <a:p>
            <a:r>
              <a:rPr lang="it-IT" sz="2800" dirty="0"/>
              <a:t>Porosità da ritiro in sezioni selezionate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04F40D3-771A-E357-F5FD-6A937EB4DF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146333"/>
            <a:ext cx="10515601" cy="3662670"/>
          </a:xfrm>
        </p:spPr>
        <p:txBody>
          <a:bodyPr/>
          <a:lstStyle/>
          <a:p>
            <a:r>
              <a:rPr lang="it-IT" sz="2400" dirty="0"/>
              <a:t>Si mostrano alcune sezioni insieme alla velocità del pistone utilizzata: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Simulazione 01: dati forniti nella slide 03</a:t>
            </a:r>
          </a:p>
          <a:p>
            <a:endParaRPr lang="it-IT" sz="24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B584F0B-394B-7D10-454C-0C42E607B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155903"/>
            <a:ext cx="5257801" cy="3286562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E605ED9-2BC1-D6D4-8676-309B3336C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306" y="2155903"/>
            <a:ext cx="4919043" cy="330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216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40CB8EB-529E-3370-3854-B2917D3E5D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1" y="283971"/>
            <a:ext cx="2105722" cy="496614"/>
          </a:xfrm>
        </p:spPr>
        <p:txBody>
          <a:bodyPr/>
          <a:lstStyle/>
          <a:p>
            <a:r>
              <a:rPr lang="it-IT" sz="2400" dirty="0">
                <a:solidFill>
                  <a:schemeClr val="tx1"/>
                </a:solidFill>
              </a:rPr>
              <a:t>Simulazione</a:t>
            </a:r>
            <a:r>
              <a:rPr lang="it-IT" sz="2400" dirty="0"/>
              <a:t> 02: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B6E2CDD-3DBB-7C3C-56B2-EEA0CC7A5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906" y="931126"/>
            <a:ext cx="3884459" cy="257158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A3B61EB-68BD-7AFE-E480-AB2BEED82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3791414"/>
            <a:ext cx="3726365" cy="2483416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75BEEAE0-4E34-8FE8-0647-4727D7552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417" y="395775"/>
            <a:ext cx="4622728" cy="177499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9CCDAF3-8803-4791-3D70-DAF948EC2495}"/>
              </a:ext>
            </a:extLst>
          </p:cNvPr>
          <p:cNvSpPr txBox="1"/>
          <p:nvPr/>
        </p:nvSpPr>
        <p:spPr>
          <a:xfrm>
            <a:off x="5939883" y="2698595"/>
            <a:ext cx="52402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Avenir Book"/>
              </a:rPr>
              <a:t>La simulazione 02 risulterà la migliore da un punto di vista della qualità nonostante le cavità siamo ampliamente visibili. </a:t>
            </a:r>
          </a:p>
          <a:p>
            <a:r>
              <a:rPr lang="it-IT" sz="2400" dirty="0">
                <a:latin typeface="Avenir Book"/>
              </a:rPr>
              <a:t>A causa della sua velocità piuttosto lenta però risulta quella con tempi di riempimento e solidificazione maggiori</a:t>
            </a:r>
          </a:p>
        </p:txBody>
      </p:sp>
    </p:spTree>
    <p:extLst>
      <p:ext uri="{BB962C8B-B14F-4D97-AF65-F5344CB8AC3E}">
        <p14:creationId xmlns:p14="http://schemas.microsoft.com/office/powerpoint/2010/main" val="4209452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8404DED-A2ED-0FA9-8F17-4480DAD9FC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343445"/>
            <a:ext cx="10515601" cy="786545"/>
          </a:xfrm>
        </p:spPr>
        <p:txBody>
          <a:bodyPr/>
          <a:lstStyle/>
          <a:p>
            <a:r>
              <a:rPr lang="it-IT" sz="2400" dirty="0"/>
              <a:t>Simulazione 05: prima simulazione in cui si applica una rampa di velocità nella fase di riempimento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1B1286E-FB28-53DA-81A1-AEB895A74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877" y="2670472"/>
            <a:ext cx="4805874" cy="180437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05297EE-DBC6-84BB-80A2-7A39BFC7C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704" y="1003609"/>
            <a:ext cx="3852296" cy="2569049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CFC42B1-AA16-2993-6A96-0FCBFEE3A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3704" y="3830208"/>
            <a:ext cx="3852296" cy="255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973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5EECC18-722F-2277-FBEF-FE95FE7529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202196"/>
            <a:ext cx="10515601" cy="786545"/>
          </a:xfrm>
        </p:spPr>
        <p:txBody>
          <a:bodyPr/>
          <a:lstStyle/>
          <a:p>
            <a:r>
              <a:rPr lang="it-IT" sz="2400" dirty="0"/>
              <a:t>Simulazione 09: si utilizza una rampa che arriva fino ai 6 m/s ispirandosi ai veri e propri cicli di pressocolata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D2316D2-86A7-1AD2-D9D4-526A157B9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978" y="2575606"/>
            <a:ext cx="4647798" cy="170678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FF2039C-EC99-65FF-3A0C-266DEC4F8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208" y="1077950"/>
            <a:ext cx="3876480" cy="2564599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C1AF6043-0408-2652-2522-7F9D31BF2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208" y="3939548"/>
            <a:ext cx="3876480" cy="257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97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B64CD5-2E41-B6C8-A0F5-91D9D8070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22066"/>
            <a:ext cx="10515600" cy="588978"/>
          </a:xfrm>
        </p:spPr>
        <p:txBody>
          <a:bodyPr>
            <a:normAutofit/>
          </a:bodyPr>
          <a:lstStyle/>
          <a:p>
            <a:r>
              <a:rPr lang="it-IT" sz="2800" dirty="0"/>
              <a:t>Risultati e analisi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B413289-1667-032F-61C7-55A5B35C29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1" y="1094293"/>
            <a:ext cx="10515601" cy="392375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L’utilizzo di un range così ampio dei vari parametri ha fornito dati molto diversi e disparati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Per quanto riguarda il tempo la simulazione più lenta (02) impiega il 236% del tempo in più rispetto a quella più veloce (09) ma risulta quella di migliore qualità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Una temperatura di colata di 715°C fornisce maggiore fluidità alla lega ma richiede più energia per surriscaldarla ed è più reattiva con l’acciaio dello stampo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Un coefficiente di scambio termico di 5000 W/m^2 K permette una diminuzione del tempo di raffreddamento del 12% (simulazione 03 e 04) ma richiede una progettazione degli stampi più complessa </a:t>
            </a:r>
          </a:p>
        </p:txBody>
      </p:sp>
    </p:spTree>
    <p:extLst>
      <p:ext uri="{BB962C8B-B14F-4D97-AF65-F5344CB8AC3E}">
        <p14:creationId xmlns:p14="http://schemas.microsoft.com/office/powerpoint/2010/main" val="1910346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82CB2A-9901-9B70-6EAE-E526746E2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22066"/>
            <a:ext cx="10515600" cy="596412"/>
          </a:xfrm>
        </p:spPr>
        <p:txBody>
          <a:bodyPr>
            <a:normAutofit/>
          </a:bodyPr>
          <a:lstStyle/>
          <a:p>
            <a:r>
              <a:rPr lang="it-IT" sz="2800" dirty="0"/>
              <a:t>Conclusioni</a:t>
            </a:r>
            <a:endParaRPr lang="it-IT" sz="2400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191245A-6679-5599-5126-33F4B783B9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115122"/>
            <a:ext cx="10515601" cy="447446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400" dirty="0"/>
              <a:t>La scrematura dei risultati (obiettivo del Virtual Mold) è stata fatta in maniera soddisfacente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400" dirty="0"/>
              <a:t>Una soluzione definitiva non è stata raggiunta ma la simulazione 02 ha fornito migliore qualità del getto e la simulazione 09 ha fornito un’ottimizzazione dei tempi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400" dirty="0"/>
              <a:t>La geometria del getto è sicuramente un ostacolo, ha diversi sottosquadri e fori. Necessaria una progettazione attenta dei carrelli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400" dirty="0"/>
              <a:t>L’attacco di colata potrebbe essere allargato per non causare un moto turbolento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400" dirty="0"/>
              <a:t>La geometria potrebbe essere riempita per facilitare il riempimento e concentrarsi su lavorazioni meccaniche successive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133090600"/>
      </p:ext>
    </p:extLst>
  </p:cSld>
  <p:clrMapOvr>
    <a:masterClrMapping/>
  </p:clrMapOvr>
</p:sld>
</file>

<file path=ppt/theme/theme1.xml><?xml version="1.0" encoding="utf-8"?>
<a:theme xmlns:a="http://schemas.openxmlformats.org/drawingml/2006/main" name="Unib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zione1" id="{4CDB02D5-E6D0-F54B-BCC6-9872C913BA62}" vid="{392E33C3-49CF-1A41-B037-DA1E5C6E2FD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ITA_Modello-Slide-Unibs-16_9 Widescreen</Template>
  <TotalTime>0</TotalTime>
  <Words>440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Arial</vt:lpstr>
      <vt:lpstr>Avenir Book</vt:lpstr>
      <vt:lpstr>Avenir Medium</vt:lpstr>
      <vt:lpstr>Calibri</vt:lpstr>
      <vt:lpstr>Unibs</vt:lpstr>
      <vt:lpstr>Relazione Fonderia</vt:lpstr>
      <vt:lpstr>Introduzione</vt:lpstr>
      <vt:lpstr>Dati di partenza</vt:lpstr>
      <vt:lpstr>Procedura sperimentale</vt:lpstr>
      <vt:lpstr>Porosità da ritiro in sezioni selezionate</vt:lpstr>
      <vt:lpstr>Presentazione standard di PowerPoint</vt:lpstr>
      <vt:lpstr>Presentazione standard di PowerPoint</vt:lpstr>
      <vt:lpstr>Presentazione standard di PowerPoint</vt:lpstr>
      <vt:lpstr>Risultati e analisi</vt:lpstr>
      <vt:lpstr>Conclusioni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Franco Docchio</dc:creator>
  <cp:lastModifiedBy>DAVIDE COMOTTI</cp:lastModifiedBy>
  <cp:revision>63</cp:revision>
  <dcterms:created xsi:type="dcterms:W3CDTF">2017-09-14T13:27:04Z</dcterms:created>
  <dcterms:modified xsi:type="dcterms:W3CDTF">2026-06-20T22:46:14Z</dcterms:modified>
</cp:coreProperties>
</file>